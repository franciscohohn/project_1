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5" r:id="rId6"/>
    <p:sldId id="267" r:id="rId7"/>
    <p:sldId id="261" r:id="rId8"/>
    <p:sldId id="263" r:id="rId9"/>
    <p:sldId id="268" r:id="rId10"/>
    <p:sldId id="269" r:id="rId11"/>
    <p:sldId id="270" r:id="rId12"/>
    <p:sldId id="271" r:id="rId13"/>
    <p:sldId id="266" r:id="rId14"/>
    <p:sldId id="26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9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193B04-B7E9-4FFA-A860-2AFBC44069B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1C70626-A8FC-4E5E-A82B-39FA0A94A170}">
      <dgm:prSet/>
      <dgm:spPr/>
      <dgm:t>
        <a:bodyPr/>
        <a:lstStyle/>
        <a:p>
          <a:r>
            <a:rPr lang="en-US"/>
            <a:t>Researched how to manipulate file and variable names, and loop the CPD data based on the year of the csv file</a:t>
          </a:r>
        </a:p>
      </dgm:t>
    </dgm:pt>
    <dgm:pt modelId="{840F67B2-438C-4046-8741-D4B323A0CF7C}" type="parTrans" cxnId="{4BFC8907-A1C4-453D-9298-9AE34077F18F}">
      <dgm:prSet/>
      <dgm:spPr/>
      <dgm:t>
        <a:bodyPr/>
        <a:lstStyle/>
        <a:p>
          <a:endParaRPr lang="en-US"/>
        </a:p>
      </dgm:t>
    </dgm:pt>
    <dgm:pt modelId="{AAFFEC40-E650-4C2E-9A0B-E2D2517AD647}" type="sibTrans" cxnId="{4BFC8907-A1C4-453D-9298-9AE34077F18F}">
      <dgm:prSet/>
      <dgm:spPr/>
      <dgm:t>
        <a:bodyPr/>
        <a:lstStyle/>
        <a:p>
          <a:endParaRPr lang="en-US"/>
        </a:p>
      </dgm:t>
    </dgm:pt>
    <dgm:pt modelId="{57F2F72C-7CC6-4AEC-9078-6A4A746DD9C6}">
      <dgm:prSet/>
      <dgm:spPr/>
      <dgm:t>
        <a:bodyPr/>
        <a:lstStyle/>
        <a:p>
          <a:r>
            <a:rPr lang="en-US" dirty="0"/>
            <a:t>1.Compared the crime on weekdays vs weekends. Especially in the hotter months. 2. Analyzed if Snow or Rain had any affect on the Crime rate </a:t>
          </a:r>
        </a:p>
      </dgm:t>
    </dgm:pt>
    <dgm:pt modelId="{81622048-2C1D-4EF8-AFC1-04660009AA52}" type="parTrans" cxnId="{9B343138-1CE9-45BA-9F03-B025A1F410AA}">
      <dgm:prSet/>
      <dgm:spPr/>
      <dgm:t>
        <a:bodyPr/>
        <a:lstStyle/>
        <a:p>
          <a:endParaRPr lang="en-US"/>
        </a:p>
      </dgm:t>
    </dgm:pt>
    <dgm:pt modelId="{162D5E53-59D9-4789-88EE-5886F6E4A78B}" type="sibTrans" cxnId="{9B343138-1CE9-45BA-9F03-B025A1F410AA}">
      <dgm:prSet/>
      <dgm:spPr/>
      <dgm:t>
        <a:bodyPr/>
        <a:lstStyle/>
        <a:p>
          <a:endParaRPr lang="en-US"/>
        </a:p>
      </dgm:t>
    </dgm:pt>
    <dgm:pt modelId="{16C463A7-99BB-4F65-930F-FAF45CFCD242}">
      <dgm:prSet/>
      <dgm:spPr/>
      <dgm:t>
        <a:bodyPr/>
        <a:lstStyle/>
        <a:p>
          <a:r>
            <a:rPr lang="en-US"/>
            <a:t>Tried to analyze if the police presence was more, since more people are outside during the summer, to see if that affected the rate of crime in someway. </a:t>
          </a:r>
        </a:p>
      </dgm:t>
    </dgm:pt>
    <dgm:pt modelId="{83CFE598-ECA0-4A94-B09D-1DAA90829478}" type="parTrans" cxnId="{620B3CC8-7762-4226-AA41-8764867E1BED}">
      <dgm:prSet/>
      <dgm:spPr/>
      <dgm:t>
        <a:bodyPr/>
        <a:lstStyle/>
        <a:p>
          <a:endParaRPr lang="en-US"/>
        </a:p>
      </dgm:t>
    </dgm:pt>
    <dgm:pt modelId="{C7CFD688-1250-47D3-8A10-3405B91C91DA}" type="sibTrans" cxnId="{620B3CC8-7762-4226-AA41-8764867E1BED}">
      <dgm:prSet/>
      <dgm:spPr/>
      <dgm:t>
        <a:bodyPr/>
        <a:lstStyle/>
        <a:p>
          <a:endParaRPr lang="en-US"/>
        </a:p>
      </dgm:t>
    </dgm:pt>
    <dgm:pt modelId="{1B1B2649-641A-405E-9F4F-8FF6880C77AC}" type="pres">
      <dgm:prSet presAssocID="{17193B04-B7E9-4FFA-A860-2AFBC44069B7}" presName="root" presStyleCnt="0">
        <dgm:presLayoutVars>
          <dgm:dir/>
          <dgm:resizeHandles val="exact"/>
        </dgm:presLayoutVars>
      </dgm:prSet>
      <dgm:spPr/>
    </dgm:pt>
    <dgm:pt modelId="{E3F7AD0F-1003-451B-A512-6FDA000AE12A}" type="pres">
      <dgm:prSet presAssocID="{E1C70626-A8FC-4E5E-A82B-39FA0A94A170}" presName="compNode" presStyleCnt="0"/>
      <dgm:spPr/>
    </dgm:pt>
    <dgm:pt modelId="{A52B105C-B959-4C28-9133-D4B596ECA252}" type="pres">
      <dgm:prSet presAssocID="{E1C70626-A8FC-4E5E-A82B-39FA0A94A170}" presName="bgRect" presStyleLbl="bgShp" presStyleIdx="0" presStyleCnt="3"/>
      <dgm:spPr/>
    </dgm:pt>
    <dgm:pt modelId="{ECEECC8C-5583-4DF3-96F3-FBDF87A4C576}" type="pres">
      <dgm:prSet presAssocID="{E1C70626-A8FC-4E5E-A82B-39FA0A94A1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989DEE1-7043-4D4F-A99B-E6EE8217945A}" type="pres">
      <dgm:prSet presAssocID="{E1C70626-A8FC-4E5E-A82B-39FA0A94A170}" presName="spaceRect" presStyleCnt="0"/>
      <dgm:spPr/>
    </dgm:pt>
    <dgm:pt modelId="{6514662D-426E-40D0-8DA4-8005A032D144}" type="pres">
      <dgm:prSet presAssocID="{E1C70626-A8FC-4E5E-A82B-39FA0A94A170}" presName="parTx" presStyleLbl="revTx" presStyleIdx="0" presStyleCnt="3">
        <dgm:presLayoutVars>
          <dgm:chMax val="0"/>
          <dgm:chPref val="0"/>
        </dgm:presLayoutVars>
      </dgm:prSet>
      <dgm:spPr/>
    </dgm:pt>
    <dgm:pt modelId="{CDDCFD15-5084-43CC-9799-A135FD88B2E4}" type="pres">
      <dgm:prSet presAssocID="{AAFFEC40-E650-4C2E-9A0B-E2D2517AD647}" presName="sibTrans" presStyleCnt="0"/>
      <dgm:spPr/>
    </dgm:pt>
    <dgm:pt modelId="{8C552383-03FC-4ED6-95BC-D4849FE5A534}" type="pres">
      <dgm:prSet presAssocID="{57F2F72C-7CC6-4AEC-9078-6A4A746DD9C6}" presName="compNode" presStyleCnt="0"/>
      <dgm:spPr/>
    </dgm:pt>
    <dgm:pt modelId="{E9438E9F-4209-44A4-9B79-E9031FB6ABBC}" type="pres">
      <dgm:prSet presAssocID="{57F2F72C-7CC6-4AEC-9078-6A4A746DD9C6}" presName="bgRect" presStyleLbl="bgShp" presStyleIdx="1" presStyleCnt="3"/>
      <dgm:spPr/>
    </dgm:pt>
    <dgm:pt modelId="{D92E0276-33F2-451A-AF57-02B08D8A3FBC}" type="pres">
      <dgm:prSet presAssocID="{57F2F72C-7CC6-4AEC-9078-6A4A746DD9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A6B1163-9B96-4A32-B07C-55803B62B67B}" type="pres">
      <dgm:prSet presAssocID="{57F2F72C-7CC6-4AEC-9078-6A4A746DD9C6}" presName="spaceRect" presStyleCnt="0"/>
      <dgm:spPr/>
    </dgm:pt>
    <dgm:pt modelId="{FEF5192E-2A51-4B15-BF15-365CEFD4B11E}" type="pres">
      <dgm:prSet presAssocID="{57F2F72C-7CC6-4AEC-9078-6A4A746DD9C6}" presName="parTx" presStyleLbl="revTx" presStyleIdx="1" presStyleCnt="3">
        <dgm:presLayoutVars>
          <dgm:chMax val="0"/>
          <dgm:chPref val="0"/>
        </dgm:presLayoutVars>
      </dgm:prSet>
      <dgm:spPr/>
    </dgm:pt>
    <dgm:pt modelId="{FDE84CC7-508C-4BA2-858B-225BD3CC1766}" type="pres">
      <dgm:prSet presAssocID="{162D5E53-59D9-4789-88EE-5886F6E4A78B}" presName="sibTrans" presStyleCnt="0"/>
      <dgm:spPr/>
    </dgm:pt>
    <dgm:pt modelId="{7341BF77-8676-4918-9F52-0D393CC37ED2}" type="pres">
      <dgm:prSet presAssocID="{16C463A7-99BB-4F65-930F-FAF45CFCD242}" presName="compNode" presStyleCnt="0"/>
      <dgm:spPr/>
    </dgm:pt>
    <dgm:pt modelId="{A795718E-FB13-4C8F-B375-C14466A9EB38}" type="pres">
      <dgm:prSet presAssocID="{16C463A7-99BB-4F65-930F-FAF45CFCD242}" presName="bgRect" presStyleLbl="bgShp" presStyleIdx="2" presStyleCnt="3"/>
      <dgm:spPr/>
    </dgm:pt>
    <dgm:pt modelId="{ADF710F7-C1A7-47B2-B310-B3499395A071}" type="pres">
      <dgm:prSet presAssocID="{16C463A7-99BB-4F65-930F-FAF45CFCD24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EC04123-6E58-4E01-9E7C-44C7F6625D75}" type="pres">
      <dgm:prSet presAssocID="{16C463A7-99BB-4F65-930F-FAF45CFCD242}" presName="spaceRect" presStyleCnt="0"/>
      <dgm:spPr/>
    </dgm:pt>
    <dgm:pt modelId="{DDFDBB09-EA86-418C-B8D4-7B1B16B09215}" type="pres">
      <dgm:prSet presAssocID="{16C463A7-99BB-4F65-930F-FAF45CFCD24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F55DE04-7016-4252-AEF1-320506FD177E}" type="presOf" srcId="{17193B04-B7E9-4FFA-A860-2AFBC44069B7}" destId="{1B1B2649-641A-405E-9F4F-8FF6880C77AC}" srcOrd="0" destOrd="0" presId="urn:microsoft.com/office/officeart/2018/2/layout/IconVerticalSolidList"/>
    <dgm:cxn modelId="{4BFC8907-A1C4-453D-9298-9AE34077F18F}" srcId="{17193B04-B7E9-4FFA-A860-2AFBC44069B7}" destId="{E1C70626-A8FC-4E5E-A82B-39FA0A94A170}" srcOrd="0" destOrd="0" parTransId="{840F67B2-438C-4046-8741-D4B323A0CF7C}" sibTransId="{AAFFEC40-E650-4C2E-9A0B-E2D2517AD647}"/>
    <dgm:cxn modelId="{E8EB6B33-1C7F-4948-A630-94EB25453C8E}" type="presOf" srcId="{16C463A7-99BB-4F65-930F-FAF45CFCD242}" destId="{DDFDBB09-EA86-418C-B8D4-7B1B16B09215}" srcOrd="0" destOrd="0" presId="urn:microsoft.com/office/officeart/2018/2/layout/IconVerticalSolidList"/>
    <dgm:cxn modelId="{9B343138-1CE9-45BA-9F03-B025A1F410AA}" srcId="{17193B04-B7E9-4FFA-A860-2AFBC44069B7}" destId="{57F2F72C-7CC6-4AEC-9078-6A4A746DD9C6}" srcOrd="1" destOrd="0" parTransId="{81622048-2C1D-4EF8-AFC1-04660009AA52}" sibTransId="{162D5E53-59D9-4789-88EE-5886F6E4A78B}"/>
    <dgm:cxn modelId="{FE71E467-016C-4625-9CA2-61247A3FB349}" type="presOf" srcId="{E1C70626-A8FC-4E5E-A82B-39FA0A94A170}" destId="{6514662D-426E-40D0-8DA4-8005A032D144}" srcOrd="0" destOrd="0" presId="urn:microsoft.com/office/officeart/2018/2/layout/IconVerticalSolidList"/>
    <dgm:cxn modelId="{381D0FC3-9C3C-45B6-87B6-D29D894911A4}" type="presOf" srcId="{57F2F72C-7CC6-4AEC-9078-6A4A746DD9C6}" destId="{FEF5192E-2A51-4B15-BF15-365CEFD4B11E}" srcOrd="0" destOrd="0" presId="urn:microsoft.com/office/officeart/2018/2/layout/IconVerticalSolidList"/>
    <dgm:cxn modelId="{620B3CC8-7762-4226-AA41-8764867E1BED}" srcId="{17193B04-B7E9-4FFA-A860-2AFBC44069B7}" destId="{16C463A7-99BB-4F65-930F-FAF45CFCD242}" srcOrd="2" destOrd="0" parTransId="{83CFE598-ECA0-4A94-B09D-1DAA90829478}" sibTransId="{C7CFD688-1250-47D3-8A10-3405B91C91DA}"/>
    <dgm:cxn modelId="{3629A4C2-05A8-469B-BBC2-6912A4283493}" type="presParOf" srcId="{1B1B2649-641A-405E-9F4F-8FF6880C77AC}" destId="{E3F7AD0F-1003-451B-A512-6FDA000AE12A}" srcOrd="0" destOrd="0" presId="urn:microsoft.com/office/officeart/2018/2/layout/IconVerticalSolidList"/>
    <dgm:cxn modelId="{291851E8-E7E9-41AB-817D-A793AD2D2378}" type="presParOf" srcId="{E3F7AD0F-1003-451B-A512-6FDA000AE12A}" destId="{A52B105C-B959-4C28-9133-D4B596ECA252}" srcOrd="0" destOrd="0" presId="urn:microsoft.com/office/officeart/2018/2/layout/IconVerticalSolidList"/>
    <dgm:cxn modelId="{126C6D6F-2062-4C2F-B390-40C8E2C4F60C}" type="presParOf" srcId="{E3F7AD0F-1003-451B-A512-6FDA000AE12A}" destId="{ECEECC8C-5583-4DF3-96F3-FBDF87A4C576}" srcOrd="1" destOrd="0" presId="urn:microsoft.com/office/officeart/2018/2/layout/IconVerticalSolidList"/>
    <dgm:cxn modelId="{7CD17032-57CF-436A-9770-F9799688C1E8}" type="presParOf" srcId="{E3F7AD0F-1003-451B-A512-6FDA000AE12A}" destId="{F989DEE1-7043-4D4F-A99B-E6EE8217945A}" srcOrd="2" destOrd="0" presId="urn:microsoft.com/office/officeart/2018/2/layout/IconVerticalSolidList"/>
    <dgm:cxn modelId="{C21F752C-CE6A-44D7-AC0E-5DEF28F47D7B}" type="presParOf" srcId="{E3F7AD0F-1003-451B-A512-6FDA000AE12A}" destId="{6514662D-426E-40D0-8DA4-8005A032D144}" srcOrd="3" destOrd="0" presId="urn:microsoft.com/office/officeart/2018/2/layout/IconVerticalSolidList"/>
    <dgm:cxn modelId="{6D1C9027-506C-4034-9380-8869BE02839E}" type="presParOf" srcId="{1B1B2649-641A-405E-9F4F-8FF6880C77AC}" destId="{CDDCFD15-5084-43CC-9799-A135FD88B2E4}" srcOrd="1" destOrd="0" presId="urn:microsoft.com/office/officeart/2018/2/layout/IconVerticalSolidList"/>
    <dgm:cxn modelId="{8AE27B4E-3C82-4864-B513-5530E708BF67}" type="presParOf" srcId="{1B1B2649-641A-405E-9F4F-8FF6880C77AC}" destId="{8C552383-03FC-4ED6-95BC-D4849FE5A534}" srcOrd="2" destOrd="0" presId="urn:microsoft.com/office/officeart/2018/2/layout/IconVerticalSolidList"/>
    <dgm:cxn modelId="{ECD46448-1431-4BEF-8049-4B6B172C4847}" type="presParOf" srcId="{8C552383-03FC-4ED6-95BC-D4849FE5A534}" destId="{E9438E9F-4209-44A4-9B79-E9031FB6ABBC}" srcOrd="0" destOrd="0" presId="urn:microsoft.com/office/officeart/2018/2/layout/IconVerticalSolidList"/>
    <dgm:cxn modelId="{6287B0EA-FEB4-432E-BF5D-17EC47C53DEB}" type="presParOf" srcId="{8C552383-03FC-4ED6-95BC-D4849FE5A534}" destId="{D92E0276-33F2-451A-AF57-02B08D8A3FBC}" srcOrd="1" destOrd="0" presId="urn:microsoft.com/office/officeart/2018/2/layout/IconVerticalSolidList"/>
    <dgm:cxn modelId="{33A1A2AB-60D9-4C97-9627-133CC6E66FA6}" type="presParOf" srcId="{8C552383-03FC-4ED6-95BC-D4849FE5A534}" destId="{DA6B1163-9B96-4A32-B07C-55803B62B67B}" srcOrd="2" destOrd="0" presId="urn:microsoft.com/office/officeart/2018/2/layout/IconVerticalSolidList"/>
    <dgm:cxn modelId="{27B5CE94-63BC-4253-9981-C565B85D978D}" type="presParOf" srcId="{8C552383-03FC-4ED6-95BC-D4849FE5A534}" destId="{FEF5192E-2A51-4B15-BF15-365CEFD4B11E}" srcOrd="3" destOrd="0" presId="urn:microsoft.com/office/officeart/2018/2/layout/IconVerticalSolidList"/>
    <dgm:cxn modelId="{DD1D65E0-63BB-42C9-AAE6-BEC7F4CD6B66}" type="presParOf" srcId="{1B1B2649-641A-405E-9F4F-8FF6880C77AC}" destId="{FDE84CC7-508C-4BA2-858B-225BD3CC1766}" srcOrd="3" destOrd="0" presId="urn:microsoft.com/office/officeart/2018/2/layout/IconVerticalSolidList"/>
    <dgm:cxn modelId="{607A2D52-5796-4D0D-B742-96F79BFCEE4F}" type="presParOf" srcId="{1B1B2649-641A-405E-9F4F-8FF6880C77AC}" destId="{7341BF77-8676-4918-9F52-0D393CC37ED2}" srcOrd="4" destOrd="0" presId="urn:microsoft.com/office/officeart/2018/2/layout/IconVerticalSolidList"/>
    <dgm:cxn modelId="{4A52A56C-808D-4476-BEEE-DB4A23639803}" type="presParOf" srcId="{7341BF77-8676-4918-9F52-0D393CC37ED2}" destId="{A795718E-FB13-4C8F-B375-C14466A9EB38}" srcOrd="0" destOrd="0" presId="urn:microsoft.com/office/officeart/2018/2/layout/IconVerticalSolidList"/>
    <dgm:cxn modelId="{90600076-5265-4A45-B6B4-B054F46DC2C8}" type="presParOf" srcId="{7341BF77-8676-4918-9F52-0D393CC37ED2}" destId="{ADF710F7-C1A7-47B2-B310-B3499395A071}" srcOrd="1" destOrd="0" presId="urn:microsoft.com/office/officeart/2018/2/layout/IconVerticalSolidList"/>
    <dgm:cxn modelId="{B376A289-AAA5-4916-840B-75C8348D3193}" type="presParOf" srcId="{7341BF77-8676-4918-9F52-0D393CC37ED2}" destId="{1EC04123-6E58-4E01-9E7C-44C7F6625D75}" srcOrd="2" destOrd="0" presId="urn:microsoft.com/office/officeart/2018/2/layout/IconVerticalSolidList"/>
    <dgm:cxn modelId="{16319711-A0BA-4AF9-9EC6-83085B3D8C8D}" type="presParOf" srcId="{7341BF77-8676-4918-9F52-0D393CC37ED2}" destId="{DDFDBB09-EA86-418C-B8D4-7B1B16B092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B105C-B959-4C28-9133-D4B596ECA252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ECC8C-5583-4DF3-96F3-FBDF87A4C576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4662D-426E-40D0-8DA4-8005A032D144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Researched how to manipulate file and variable names, and loop the CPD data based on the year of the csv file</a:t>
          </a:r>
        </a:p>
      </dsp:txBody>
      <dsp:txXfrm>
        <a:off x="1941716" y="718"/>
        <a:ext cx="4571887" cy="1681139"/>
      </dsp:txXfrm>
    </dsp:sp>
    <dsp:sp modelId="{E9438E9F-4209-44A4-9B79-E9031FB6ABBC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E0276-33F2-451A-AF57-02B08D8A3FBC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5192E-2A51-4B15-BF15-365CEFD4B11E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1.Compared the crime on weekdays vs weekends. Especially in the hotter months. 2. Analyzed if Snow or Rain had any affect on the Crime rate </a:t>
          </a:r>
        </a:p>
      </dsp:txBody>
      <dsp:txXfrm>
        <a:off x="1941716" y="2102143"/>
        <a:ext cx="4571887" cy="1681139"/>
      </dsp:txXfrm>
    </dsp:sp>
    <dsp:sp modelId="{A795718E-FB13-4C8F-B375-C14466A9EB38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710F7-C1A7-47B2-B310-B3499395A071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DBB09-EA86-418C-B8D4-7B1B16B09215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Tried to analyze if the police presence was more, since more people are outside during the summer, to see if that affected the rate of crime in someway. </a:t>
          </a:r>
        </a:p>
      </dsp:txBody>
      <dsp:txXfrm>
        <a:off x="1941716" y="4203567"/>
        <a:ext cx="4571887" cy="168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3181-24F0-4D01-9FA7-59C624EC1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73AD-8818-4BEA-9749-B9725F5A4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F7AA-15BD-4677-B416-485C8F24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0230-7D72-4F15-A3C9-51D420238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0F987-EB88-434D-A8C2-44E3100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5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FFAE-C1F6-4E6F-9D43-83425FEF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173C-08DC-4172-B470-F3B30F51E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A799-5EC6-4899-BD24-4437E690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18638-4F57-440F-9CE1-95917DF0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6403-827E-43CF-8B93-3015E74F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44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E50B-6A43-432C-8550-1C77FD990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08AE7-2A8C-4955-9EBE-F382BFF0C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A074-84FA-4461-92F7-36DF27BF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31BB-A47F-46D8-BAE5-EC0D59B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0750-764E-4694-BAB4-A19D8120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7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A8A2-E849-4AC4-9084-EA5181B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2D29-6247-4430-9B81-A4EC8B1B0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3ECDF-5C0F-4E5C-AA29-3ED18C503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30F6E-1636-4170-AE6C-BF78FE80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9B32C-1957-4A0D-9300-95F39EF7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38F62-8DD2-421E-B7F5-8911F2C3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3BA1-8E8A-4B10-A4EE-98A3A893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8B55-7AE1-4AC7-BD12-FED572D8D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547FE-CF10-46B3-8B8D-22FA3EF2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022B0-271E-4011-BFAE-276B34BFB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A348-B075-4469-A078-C002A1404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0D54C-8648-44C8-9D4E-F9E8F04AC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35AA-E897-448E-B2D8-F079649B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579B-86D5-45A1-81CA-C1CA3360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1F5D-6F8E-4C8B-AFD6-668A8A99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D084-7687-4D8D-8D78-BFBEF036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FE811-3980-4BAB-9529-3E9878CC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6D812-A4A9-402C-A10E-8EBADB6B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57418-20A6-4474-AB77-9584D7B9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C42F8-F219-4C31-8C74-A4E65F54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AF4B8-AE5C-49C4-813F-04EE4901A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4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919A-863C-4D56-89DB-E13B55A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3706-9503-4428-98FD-09F0856BA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DC25F-3183-4448-9658-D688372FD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58C8B-A43B-496F-9B56-7A1C3C79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8E645-E6FE-455B-8987-4BC7D6D95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B132-3CEC-4EE5-B684-94AFCBF1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80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D0EF-385B-4CD4-9994-9A1A0CEF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405730-5422-449F-A4DC-442D5355F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27E18-A7A6-49CA-8BDA-04819DC1A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1FA52-8573-4ADE-B548-AF26C1A8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83D64-2748-4B52-8A57-5AB063CE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F6E3C-D02D-460B-BFDD-FFE39EA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1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03D6-C004-4B4C-A9DF-ACE9C6B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115E-46C1-4207-B1AC-14EBB0826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7E087-1C51-4163-8BA5-0621556E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9FDAA-6B03-439C-A274-1BD344E6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CC163-C0D7-4ED7-9BEB-E69C9D65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7D67E-A14A-4271-B93D-41A1CBA88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085FC-DEEE-4E76-AE54-9E35BDB5E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3372-EA77-40CD-A76B-C268598D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3388D-6D24-49D7-88E7-02175C48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2F05-AFA4-4F5E-8EC4-B33F63E4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7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B5FBE-2200-4236-9343-1F963776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54B81-1756-4A28-9ABB-81AD94B9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DC1B5-4F18-43AC-91D6-589551ADB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88FEC-8408-4619-B5E6-DA13FC512FFF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E7A6F-C192-405F-8C86-735EDD1A2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7E87-738E-454D-9A6F-7015C76C6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AFFA-EEA7-4F2D-A3E5-3AE0F1CBD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10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history-bul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ata.cityofchicago.org/Public-Safety/Crimes-2018/3i3m-jwuy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1C6C8-273C-472D-8E3A-C1B605568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 dirty="0"/>
              <a:t>On Weather and </a:t>
            </a:r>
            <a:r>
              <a:rPr lang="en-US" sz="5800"/>
              <a:t>its Effects </a:t>
            </a:r>
            <a:r>
              <a:rPr lang="en-US" sz="5800" dirty="0"/>
              <a:t>on Chicago Crime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F10F3-B1FB-4423-9A9A-E1755F099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A data driven analysis on how weather relates to crime rates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Francisco H | Mansi S | and John 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64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4A3B59-6669-4DCA-9B59-EEBAF3D7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3932237" cy="488156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Question</a:t>
            </a:r>
          </a:p>
          <a:p>
            <a:r>
              <a:rPr lang="en-US" sz="2000" dirty="0"/>
              <a:t>How does weather affect crime in Chicago?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Hypothesis</a:t>
            </a:r>
          </a:p>
          <a:p>
            <a:r>
              <a:rPr lang="en-US" sz="2000" dirty="0"/>
              <a:t>Warmer weather is responsible for more people outside and more chances for street crimes to occur.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Prediction</a:t>
            </a:r>
          </a:p>
          <a:p>
            <a:r>
              <a:rPr lang="en-US" sz="2000" dirty="0"/>
              <a:t>Of the weather metrics looked at, temperature will have the strongest, positive correlation to crime.</a:t>
            </a:r>
          </a:p>
        </p:txBody>
      </p:sp>
      <p:pic>
        <p:nvPicPr>
          <p:cNvPr id="1026" name="Picture 2" descr="Weather Photo">
            <a:extLst>
              <a:ext uri="{FF2B5EF4-FFF2-40B4-BE49-F238E27FC236}">
                <a16:creationId xmlns:a16="http://schemas.microsoft.com/office/drawing/2014/main" id="{EBFBC69E-6062-4940-9AE1-09BC241628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188" y="1470537"/>
            <a:ext cx="6172200" cy="39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1824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data sources">
            <a:extLst>
              <a:ext uri="{FF2B5EF4-FFF2-40B4-BE49-F238E27FC236}">
                <a16:creationId xmlns:a16="http://schemas.microsoft.com/office/drawing/2014/main" id="{E8D17A21-3AAF-4B2C-B844-3C0100BC1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308" y="0"/>
            <a:ext cx="4454692" cy="27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A4C4313-7007-45FF-B9C6-7208A6976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33478"/>
            <a:ext cx="10515600" cy="1325563"/>
          </a:xfrm>
        </p:spPr>
        <p:txBody>
          <a:bodyPr/>
          <a:lstStyle/>
          <a:p>
            <a:r>
              <a:rPr lang="en-US" dirty="0"/>
              <a:t>The Data: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C960A1-2980-4320-BEFB-75F4C600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9582"/>
            <a:ext cx="5157787" cy="823912"/>
          </a:xfrm>
        </p:spPr>
        <p:txBody>
          <a:bodyPr/>
          <a:lstStyle/>
          <a:p>
            <a:r>
              <a:rPr lang="en-US" dirty="0"/>
              <a:t>Weather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C36FF-58C6-4329-BB19-C8E459F79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2579"/>
            <a:ext cx="5157787" cy="3684588"/>
          </a:xfrm>
        </p:spPr>
        <p:txBody>
          <a:bodyPr/>
          <a:lstStyle/>
          <a:p>
            <a:r>
              <a:rPr lang="en-US" dirty="0"/>
              <a:t>Open Weather Map</a:t>
            </a:r>
          </a:p>
          <a:p>
            <a:r>
              <a:rPr lang="en-US" dirty="0"/>
              <a:t>6 years of data for 1 city = $10</a:t>
            </a:r>
          </a:p>
          <a:p>
            <a:r>
              <a:rPr lang="en-US" dirty="0"/>
              <a:t>JSON file</a:t>
            </a:r>
          </a:p>
          <a:p>
            <a:r>
              <a:rPr lang="en-US" dirty="0">
                <a:hlinkClick r:id="rId3"/>
              </a:rPr>
              <a:t>https://openweathermap.org/history-bulk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5BF6D2-73C9-4668-9789-1F106709B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9582"/>
            <a:ext cx="5183188" cy="823912"/>
          </a:xfrm>
        </p:spPr>
        <p:txBody>
          <a:bodyPr/>
          <a:lstStyle/>
          <a:p>
            <a:r>
              <a:rPr lang="en-US" dirty="0"/>
              <a:t>Crime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34C3C-E746-4608-9794-ED5F34BC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2579"/>
            <a:ext cx="5183188" cy="3684588"/>
          </a:xfrm>
        </p:spPr>
        <p:txBody>
          <a:bodyPr/>
          <a:lstStyle/>
          <a:p>
            <a:r>
              <a:rPr lang="en-US" dirty="0"/>
              <a:t>CPD Data Portal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CSV file</a:t>
            </a:r>
          </a:p>
          <a:p>
            <a:r>
              <a:rPr lang="en-US" dirty="0">
                <a:hlinkClick r:id="rId4"/>
              </a:rPr>
              <a:t>https://data.cityofchicago.org/Public-Safety/Crimes-2018/3i3m-jwuy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5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The Data: Weather Exploration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6E2397A-5CE2-4EF1-8445-A9F188AEC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" b="5688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5431" y="2149642"/>
            <a:ext cx="6586489" cy="441157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JSON file provided easy handling of data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sz="2200" dirty="0"/>
              <a:t>Feeling loopy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Date and Three weather metrics (Max Temp, Humidity, and Cloudiness)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u="sng" dirty="0"/>
              <a:t>Some Hiccups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Date was UNIX timestamp (1349096400)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JSON entries by the hour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Temperature in Kelvin, not Fahrenheit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Missing dates (8/8/2014-6/12/2015)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927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FED2-F8E6-4FD5-8CA9-DD41304B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The Data: Weather Cleanup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D6B23-7497-4E87-A73E-4A74EE050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10512424" cy="3811588"/>
          </a:xfrm>
        </p:spPr>
        <p:txBody>
          <a:bodyPr numCol="3"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000" dirty="0"/>
              <a:t>UNIX timestamp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Hourly JSON entries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Temperature in Kelvin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Missing dates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pd.to_datetime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dt.date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pyt.k2f function</a:t>
            </a:r>
          </a:p>
          <a:p>
            <a:pPr>
              <a:lnSpc>
                <a:spcPct val="250000"/>
              </a:lnSpc>
            </a:pPr>
            <a:r>
              <a:rPr lang="en-US" sz="2000" dirty="0"/>
              <a:t>dropna after merging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1349096400 to 2012-10-01 13:00:00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Take only y/m/d then .mean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287.59 K to  57.97 F</a:t>
            </a:r>
          </a:p>
          <a:p>
            <a:pPr>
              <a:lnSpc>
                <a:spcPct val="250000"/>
              </a:lnSpc>
              <a:spcBef>
                <a:spcPts val="1900"/>
              </a:spcBef>
            </a:pPr>
            <a:r>
              <a:rPr lang="en-US" sz="1800" dirty="0"/>
              <a:t>Avoid skewed 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58008C-CC42-40A2-997D-94D7BA669EB2}"/>
              </a:ext>
            </a:extLst>
          </p:cNvPr>
          <p:cNvCxnSpPr/>
          <p:nvPr/>
        </p:nvCxnSpPr>
        <p:spPr>
          <a:xfrm>
            <a:off x="2695074" y="2614863"/>
            <a:ext cx="1475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125C3D3-5280-4A39-ABDD-EE7A0DB9FC81}"/>
              </a:ext>
            </a:extLst>
          </p:cNvPr>
          <p:cNvCxnSpPr/>
          <p:nvPr/>
        </p:nvCxnSpPr>
        <p:spPr>
          <a:xfrm>
            <a:off x="3080084" y="3429000"/>
            <a:ext cx="1219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DB2720-BB7A-4490-9D25-AA46388B5192}"/>
              </a:ext>
            </a:extLst>
          </p:cNvPr>
          <p:cNvCxnSpPr/>
          <p:nvPr/>
        </p:nvCxnSpPr>
        <p:spPr>
          <a:xfrm>
            <a:off x="3384884" y="4395537"/>
            <a:ext cx="786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6CE767-A027-4D0E-9D39-F8F7296A6FA4}"/>
              </a:ext>
            </a:extLst>
          </p:cNvPr>
          <p:cNvCxnSpPr/>
          <p:nvPr/>
        </p:nvCxnSpPr>
        <p:spPr>
          <a:xfrm>
            <a:off x="2695074" y="5309937"/>
            <a:ext cx="1475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2EB21B-543F-4765-A2FE-69B2A2DF16D1}"/>
              </a:ext>
            </a:extLst>
          </p:cNvPr>
          <p:cNvCxnSpPr/>
          <p:nvPr/>
        </p:nvCxnSpPr>
        <p:spPr>
          <a:xfrm>
            <a:off x="7042484" y="2614863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2F23B0-E9D8-46D6-A623-29D4997BD6B4}"/>
              </a:ext>
            </a:extLst>
          </p:cNvPr>
          <p:cNvCxnSpPr/>
          <p:nvPr/>
        </p:nvCxnSpPr>
        <p:spPr>
          <a:xfrm>
            <a:off x="6224337" y="3429000"/>
            <a:ext cx="1411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1FDE0E-93B7-401E-BFE2-B50036C485DE}"/>
              </a:ext>
            </a:extLst>
          </p:cNvPr>
          <p:cNvCxnSpPr/>
          <p:nvPr/>
        </p:nvCxnSpPr>
        <p:spPr>
          <a:xfrm>
            <a:off x="6096000" y="4395537"/>
            <a:ext cx="15560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9A7820-1C37-4AB3-9C69-D626D4A56831}"/>
              </a:ext>
            </a:extLst>
          </p:cNvPr>
          <p:cNvCxnSpPr/>
          <p:nvPr/>
        </p:nvCxnSpPr>
        <p:spPr>
          <a:xfrm>
            <a:off x="6705600" y="5309937"/>
            <a:ext cx="9464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429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23DB-C7C3-473B-83FB-CE84D12D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57200"/>
            <a:ext cx="4287115" cy="1133404"/>
          </a:xfrm>
        </p:spPr>
        <p:txBody>
          <a:bodyPr/>
          <a:lstStyle/>
          <a:p>
            <a:r>
              <a:rPr lang="en-US" b="1" dirty="0"/>
              <a:t>The Data:</a:t>
            </a:r>
            <a:br>
              <a:rPr lang="en-US" b="1" dirty="0"/>
            </a:br>
            <a:r>
              <a:rPr lang="en-US" b="1" dirty="0"/>
              <a:t>	Crime Exploration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EDE5-5314-44F3-910B-4625C22F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9838" y="1896738"/>
            <a:ext cx="3932237" cy="2424546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The Easiest Part!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Load in the huge amounts of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the general data we need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77568D-50A8-4D9F-9ECA-94295F34A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515" y="439882"/>
            <a:ext cx="7408043" cy="580505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3B7524-A97B-4747-A0FA-B31CD6D4C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77" y="4627418"/>
            <a:ext cx="7245209" cy="209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0" y="1017443"/>
            <a:ext cx="3932237" cy="1033030"/>
          </a:xfrm>
        </p:spPr>
        <p:txBody>
          <a:bodyPr/>
          <a:lstStyle/>
          <a:p>
            <a:r>
              <a:rPr lang="en-US" b="1" dirty="0"/>
              <a:t>The Data: </a:t>
            </a:r>
            <a:br>
              <a:rPr lang="en-US" b="1" dirty="0"/>
            </a:br>
            <a:r>
              <a:rPr lang="en-US" b="1" dirty="0"/>
              <a:t>	Crime Cleanup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7170" y="1855642"/>
            <a:ext cx="3932237" cy="4735657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we pulled the specific crime we wanted to look at and saved the date of each reported incident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ahead, we format the date so it can be mergeable with </a:t>
            </a:r>
            <a:r>
              <a:rPr lang="en-US" dirty="0" err="1"/>
              <a:t>OpenWeatherMap</a:t>
            </a:r>
            <a:r>
              <a:rPr lang="en-US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 we sort by date to make it easier to look 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Then we value count the dates to get the number of reported incidents per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we set the Date to be the index and drop any duplicate sets of dates and reported incidents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 we have clean data for each crime for each of the last 5 years. We create all the data for five years into one. Repeat for each specific crime we want to explore.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4C12D38-4A1F-497F-873B-139AB9E74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537" y="390525"/>
            <a:ext cx="7034185" cy="620077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B6D52D-EE0D-4D81-B09F-C3CD23077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88" y="169285"/>
            <a:ext cx="2426085" cy="136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0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886D5D-4559-4000-A1C0-2CB15F99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6" y="457200"/>
            <a:ext cx="4239491" cy="1219200"/>
          </a:xfrm>
        </p:spPr>
        <p:txBody>
          <a:bodyPr/>
          <a:lstStyle/>
          <a:p>
            <a:r>
              <a:rPr lang="en-US" b="1" dirty="0"/>
              <a:t>The Data: </a:t>
            </a:r>
            <a:br>
              <a:rPr lang="en-US" b="1" dirty="0"/>
            </a:br>
            <a:r>
              <a:rPr lang="en-US" b="1" dirty="0"/>
              <a:t>	Merging Weather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5DCE34-3430-4E62-8A30-9AE926A8B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836" y="2015836"/>
            <a:ext cx="3932237" cy="474518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B7E5B89-8343-4B08-8923-A9B26051B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158" y="457200"/>
            <a:ext cx="7536826" cy="6118945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DE5E06A-11E0-453D-A84D-D6280A21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903" y="0"/>
            <a:ext cx="3728771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407DC-1D82-4769-88A6-2D60E1835E0B}"/>
              </a:ext>
            </a:extLst>
          </p:cNvPr>
          <p:cNvSpPr txBox="1"/>
          <p:nvPr/>
        </p:nvSpPr>
        <p:spPr>
          <a:xfrm>
            <a:off x="110837" y="2133600"/>
            <a:ext cx="39322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merge the weather file into each crime/year file on date because we can easily filter out any dates without a reported incident for that crime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count up all the </a:t>
            </a:r>
            <a:r>
              <a:rPr lang="en-US" sz="1600" dirty="0" err="1"/>
              <a:t>NaN</a:t>
            </a:r>
            <a:r>
              <a:rPr lang="en-US" sz="1600" dirty="0"/>
              <a:t> values and record it and then drop all of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reconfigure the Year column into an integer so the years don’t read with a .0 in our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1046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6C27-80F3-41A2-BDB7-FCB0A6C5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73" y="457200"/>
            <a:ext cx="4765963" cy="1219200"/>
          </a:xfrm>
        </p:spPr>
        <p:txBody>
          <a:bodyPr/>
          <a:lstStyle/>
          <a:p>
            <a:r>
              <a:rPr lang="en-US" b="1" dirty="0"/>
              <a:t>The Data:</a:t>
            </a:r>
            <a:br>
              <a:rPr lang="en-US" b="1" dirty="0"/>
            </a:br>
            <a:r>
              <a:rPr lang="en-US" b="1" dirty="0"/>
              <a:t>	Problems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A5821-1548-4C46-B229-D6CB1A9E3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78182"/>
            <a:ext cx="5637211" cy="246610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1600" i="1" dirty="0"/>
          </a:p>
          <a:p>
            <a:pPr marL="0" indent="0" algn="ctr">
              <a:buNone/>
            </a:pPr>
            <a:r>
              <a:rPr lang="en-US" sz="1600" dirty="0"/>
              <a:t>Insights</a:t>
            </a:r>
          </a:p>
          <a:p>
            <a:r>
              <a:rPr lang="en-US" sz="1600" dirty="0"/>
              <a:t>One insight we had was that there was so much data, we had a lot of visualization and comparison choices that we could choose from</a:t>
            </a:r>
          </a:p>
          <a:p>
            <a:r>
              <a:rPr lang="en-US" sz="1600" dirty="0"/>
              <a:t>Another insight we had was that when people are working on a project together, placement of some code pertaining to make things  visually appealing matters because of the overlap.</a:t>
            </a:r>
          </a:p>
          <a:p>
            <a:pPr lvl="1"/>
            <a:r>
              <a:rPr lang="en-US" sz="1400" dirty="0"/>
              <a:t>E.g. code taking out .0 from the end of the Year worked better later down the code ladder than where it originally was</a:t>
            </a:r>
          </a:p>
          <a:p>
            <a:endParaRPr lang="en-US" sz="1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E7986-FDDB-474C-B84A-BB5610955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0217" y="2078182"/>
            <a:ext cx="5237018" cy="45392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issues we didn’t foresee during data cleanup mostly had to do with breaking down the data enough to be able to use for visualization. In a plethora of provided data, there are still lots of bridges to be built inbetween them to get seemingly easy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One of the easier examples of this getting the combined number of reported incidents for a specified crime per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Another example is breaking down the Date into Month, Day and Year so grouping and visualization wasn’t limited to one specific variable (YYYY/MM/DD)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05BD5-BC57-4B0A-8D15-5EF62FDC9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547"/>
            <a:ext cx="5637212" cy="20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7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3471A-CE75-C840-9FBD-AD80FA90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597315"/>
          </a:xfrm>
          <a:noFill/>
          <a:ln w="19050">
            <a:solidFill>
              <a:schemeClr val="bg1"/>
            </a:solidFill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Data: Analysis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50AB1-569F-934C-8635-E7A4B21E4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Let us first look at trend in temperature in the past 5 years.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incomplete line is due to insufficient data that wasn’t recorded from August 2014 to June 2015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62DE73B5-3C17-9041-8C7D-9D0730F1C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1262372"/>
            <a:ext cx="6250769" cy="417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4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0618178-4B5C-46A4-9E68-052C31FA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708357" y="3509963"/>
            <a:ext cx="7092215" cy="296783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87C24-1972-E540-AD2A-ECCBF3D59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21" y="3812954"/>
            <a:ext cx="6465287" cy="1516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Now let’s take a look at the Trend in 4 Categories of Violent Crimes in the past 5 years</a:t>
            </a:r>
          </a:p>
        </p:txBody>
      </p:sp>
      <p:pic>
        <p:nvPicPr>
          <p:cNvPr id="12" name="Picture 11" descr="A close up of a map&#10;&#10;Description automatically generated">
            <a:extLst>
              <a:ext uri="{FF2B5EF4-FFF2-40B4-BE49-F238E27FC236}">
                <a16:creationId xmlns:a16="http://schemas.microsoft.com/office/drawing/2014/main" id="{B90A2A23-5A7E-034C-9E0E-F30BE7AB24E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6" r="9427" b="-1"/>
          <a:stretch/>
        </p:blipFill>
        <p:spPr>
          <a:xfrm>
            <a:off x="641434" y="321733"/>
            <a:ext cx="3512853" cy="2966630"/>
          </a:xfrm>
          <a:prstGeom prst="rect">
            <a:avLst/>
          </a:prstGeom>
        </p:spPr>
      </p:pic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E3013887-FCEE-1B47-97C7-7B010DAB9A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3" r="10042" b="4"/>
          <a:stretch/>
        </p:blipFill>
        <p:spPr>
          <a:xfrm>
            <a:off x="4638789" y="613847"/>
            <a:ext cx="2775313" cy="2340843"/>
          </a:xfrm>
          <a:prstGeom prst="rect">
            <a:avLst/>
          </a:prstGeom>
        </p:spPr>
      </p:pic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B3AFF2DE-74F3-134B-B443-9F66CFCAD5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7" r="3583" b="-1"/>
          <a:stretch/>
        </p:blipFill>
        <p:spPr>
          <a:xfrm>
            <a:off x="7666091" y="299363"/>
            <a:ext cx="4126115" cy="300818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6FD40B-09C1-46D7-9E32-CC9BD7629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38287" y="5443086"/>
            <a:ext cx="64008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close up of a map&#10;&#10;Description automatically generated">
            <a:extLst>
              <a:ext uri="{FF2B5EF4-FFF2-40B4-BE49-F238E27FC236}">
                <a16:creationId xmlns:a16="http://schemas.microsoft.com/office/drawing/2014/main" id="{E9C18C6C-C551-4048-8E1E-706174493C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" r="5475" b="-4"/>
          <a:stretch/>
        </p:blipFill>
        <p:spPr>
          <a:xfrm>
            <a:off x="317635" y="3509433"/>
            <a:ext cx="4160452" cy="30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0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708357" y="3509963"/>
            <a:ext cx="7092215" cy="2967839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48E08-59D4-254D-AB8C-721B57F8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21" y="3812954"/>
            <a:ext cx="6465287" cy="15160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Does a hot summer mean more crime? </a:t>
            </a:r>
            <a:b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Here's what the data shows: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C3B98-FC5F-6541-8DB6-FD4645C56E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" r="3941" b="1"/>
          <a:stretch/>
        </p:blipFill>
        <p:spPr>
          <a:xfrm>
            <a:off x="317635" y="321733"/>
            <a:ext cx="4151681" cy="30268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EA373-6999-7340-AE4E-FF7B33ED25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4" r="4833" b="2"/>
          <a:stretch/>
        </p:blipFill>
        <p:spPr>
          <a:xfrm>
            <a:off x="4638955" y="321733"/>
            <a:ext cx="3539976" cy="2985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0774BC-F85D-2F48-8755-66DE8B4194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9" b="2"/>
          <a:stretch/>
        </p:blipFill>
        <p:spPr>
          <a:xfrm>
            <a:off x="8348570" y="321734"/>
            <a:ext cx="3535590" cy="298581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38287" y="5443086"/>
            <a:ext cx="64008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EBFBA0-D56F-B947-9923-E7CC05B024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1" r="-5" b="2822"/>
          <a:stretch/>
        </p:blipFill>
        <p:spPr>
          <a:xfrm>
            <a:off x="317635" y="3509433"/>
            <a:ext cx="4160452" cy="302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5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25A0-0C14-4445-BD5B-6CDFB4E3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/>
              <a:t>Statistical Analysis: Pearson Correlation Coefficient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orrelation">
            <a:extLst>
              <a:ext uri="{FF2B5EF4-FFF2-40B4-BE49-F238E27FC236}">
                <a16:creationId xmlns:a16="http://schemas.microsoft.com/office/drawing/2014/main" id="{929CC62D-025D-4821-B5A3-976EC7E6F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4023" y="3483454"/>
            <a:ext cx="3366480" cy="135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646AD-70CA-4FC9-A261-F9883EF7E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5354" y="3354785"/>
            <a:ext cx="6282169" cy="321574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b="1" dirty="0"/>
              <a:t>correlation coefficient</a:t>
            </a:r>
            <a:r>
              <a:rPr lang="en-US" sz="2400" dirty="0"/>
              <a:t> is a measure of the strength of the linear relationship between two variables.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A perfect positive linear relationship, r = 1.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/>
              <a:t>A perfect negative linear relationship, r = -1.</a:t>
            </a:r>
          </a:p>
        </p:txBody>
      </p:sp>
    </p:spTree>
    <p:extLst>
      <p:ext uri="{BB962C8B-B14F-4D97-AF65-F5344CB8AC3E}">
        <p14:creationId xmlns:p14="http://schemas.microsoft.com/office/powerpoint/2010/main" val="921853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B8E2D4-05F5-442D-A308-9BFFCA66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&amp; Crime: Pearson Correlation</a:t>
            </a:r>
          </a:p>
        </p:txBody>
      </p:sp>
      <p:pic>
        <p:nvPicPr>
          <p:cNvPr id="10" name="Content Placeholder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28EBD97C-D6EE-4D1A-B609-010BAF7B02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1691" y="4010827"/>
            <a:ext cx="3950208" cy="250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21FD03E5-5087-4D94-A9CB-5C6613863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80" y="1396339"/>
            <a:ext cx="3948717" cy="2546010"/>
          </a:xfrm>
          <a:prstGeom prst="rect">
            <a:avLst/>
          </a:prstGeom>
        </p:spPr>
      </p:pic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4BD472A3-F767-4955-BDD6-D03F31412E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579" y="3989500"/>
            <a:ext cx="3950208" cy="2546972"/>
          </a:xfrm>
          <a:prstGeom prst="rect">
            <a:avLst/>
          </a:prstGeom>
        </p:spPr>
      </p:pic>
      <p:pic>
        <p:nvPicPr>
          <p:cNvPr id="16" name="Picture 15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E2AD58-15EF-4F34-A700-692BED185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353" y="1396339"/>
            <a:ext cx="3950208" cy="254697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AF19C5-B19C-4514-BBCA-BAD50C3E0AE5}"/>
              </a:ext>
            </a:extLst>
          </p:cNvPr>
          <p:cNvSpPr/>
          <p:nvPr/>
        </p:nvSpPr>
        <p:spPr>
          <a:xfrm>
            <a:off x="1491916" y="5678905"/>
            <a:ext cx="930442" cy="8139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44601-02DC-4946-AF23-89180C0AD10D}"/>
              </a:ext>
            </a:extLst>
          </p:cNvPr>
          <p:cNvSpPr/>
          <p:nvPr/>
        </p:nvSpPr>
        <p:spPr>
          <a:xfrm>
            <a:off x="3360821" y="4135530"/>
            <a:ext cx="930442" cy="8139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26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D0964-1F2F-E548-BE39-BE6DD308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If  we had two more weeks, We would have </a:t>
            </a:r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0E8A36-8286-400C-993B-22A3FD4DB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47495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57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794</Words>
  <Application>Microsoft Macintosh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On Weather and its Effects on Chicago Crime</vt:lpstr>
      <vt:lpstr>PowerPoint Presentation</vt:lpstr>
      <vt:lpstr>The Data: Sources</vt:lpstr>
      <vt:lpstr>The Data: Weather Exploration</vt:lpstr>
      <vt:lpstr>The Data: Weather Cleanup</vt:lpstr>
      <vt:lpstr>The Data:  Crime Exploration</vt:lpstr>
      <vt:lpstr>The Data:   Crime Cleanup</vt:lpstr>
      <vt:lpstr>The Data:   Merging Weather</vt:lpstr>
      <vt:lpstr>The Data:  Problems and Insights</vt:lpstr>
      <vt:lpstr>The Data: Analysis Process</vt:lpstr>
      <vt:lpstr>Now let’s take a look at the Trend in 4 Categories of Violent Crimes in the past 5 years</vt:lpstr>
      <vt:lpstr>Does a hot summer mean more crime?  Here's what the data shows: </vt:lpstr>
      <vt:lpstr>Statistical Analysis: Pearson Correlation Coefficient</vt:lpstr>
      <vt:lpstr>Weather &amp; Crime: Pearson Correlation</vt:lpstr>
      <vt:lpstr>If  we had two more weeks, We would have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Weather and its Effects on Chicago Crime</dc:title>
  <dc:creator>Mansi Sahni</dc:creator>
  <cp:lastModifiedBy>Mansi Sahni</cp:lastModifiedBy>
  <cp:revision>1</cp:revision>
  <dcterms:created xsi:type="dcterms:W3CDTF">2019-04-08T23:35:03Z</dcterms:created>
  <dcterms:modified xsi:type="dcterms:W3CDTF">2019-04-08T23:39:40Z</dcterms:modified>
</cp:coreProperties>
</file>