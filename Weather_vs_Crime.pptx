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5" r:id="rId6"/>
    <p:sldId id="267" r:id="rId7"/>
    <p:sldId id="261" r:id="rId8"/>
    <p:sldId id="263" r:id="rId9"/>
    <p:sldId id="268" r:id="rId10"/>
    <p:sldId id="269" r:id="rId11"/>
    <p:sldId id="270" r:id="rId12"/>
    <p:sldId id="271" r:id="rId13"/>
    <p:sldId id="266" r:id="rId14"/>
    <p:sldId id="264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</a:t>
            </a:r>
            <a:r>
              <a:rPr lang="en-US" sz="5800"/>
              <a:t>its Effects </a:t>
            </a:r>
            <a:r>
              <a:rPr lang="en-US" sz="5800" dirty="0"/>
              <a:t>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Of the weather metrics looked at, temperature will have the strongest, positive correlation to crime.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CPD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149642"/>
            <a:ext cx="6586489" cy="441157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JSON file provided easy handling of data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US" sz="2200" dirty="0"/>
              <a:t>Feeling loopy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Date and Three weather metrics (Max Temp, Humidity, and Cloudiness)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u="sng" dirty="0"/>
              <a:t>Some Hiccups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Date was UNIX timestamp (1349096400)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JSON entries by the hour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Temperature in Kelvin, not Fahrenheit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dates (8/8/2014-6/12/2015)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FED2-F8E6-4FD5-8CA9-DD41304B6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The Data: Weather Cleanup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D6B23-7497-4E87-A73E-4A74EE050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 numCol="3">
            <a:normAutofit/>
          </a:bodyPr>
          <a:lstStyle/>
          <a:p>
            <a:pPr>
              <a:lnSpc>
                <a:spcPct val="250000"/>
              </a:lnSpc>
            </a:pPr>
            <a:r>
              <a:rPr lang="en-US" sz="2000" dirty="0"/>
              <a:t>UNIX timestamp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Hourly JSON entries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Temperature in Kelvin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Missing dates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pd.to_datetime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dt.date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pyt.k2f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dropna after merging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1349096400 to 2012-10-01 13:00:00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Take only y/m/d then .mean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287.59 K to  57.97 F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Avoid skewed data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58008C-CC42-40A2-997D-94D7BA669EB2}"/>
              </a:ext>
            </a:extLst>
          </p:cNvPr>
          <p:cNvCxnSpPr/>
          <p:nvPr/>
        </p:nvCxnSpPr>
        <p:spPr>
          <a:xfrm>
            <a:off x="2695074" y="2614863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25C3D3-5280-4A39-ABDD-EE7A0DB9FC81}"/>
              </a:ext>
            </a:extLst>
          </p:cNvPr>
          <p:cNvCxnSpPr/>
          <p:nvPr/>
        </p:nvCxnSpPr>
        <p:spPr>
          <a:xfrm>
            <a:off x="3080084" y="3429000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DB2720-BB7A-4490-9D25-AA46388B5192}"/>
              </a:ext>
            </a:extLst>
          </p:cNvPr>
          <p:cNvCxnSpPr/>
          <p:nvPr/>
        </p:nvCxnSpPr>
        <p:spPr>
          <a:xfrm>
            <a:off x="3384884" y="4395537"/>
            <a:ext cx="786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6CE767-A027-4D0E-9D39-F8F7296A6FA4}"/>
              </a:ext>
            </a:extLst>
          </p:cNvPr>
          <p:cNvCxnSpPr/>
          <p:nvPr/>
        </p:nvCxnSpPr>
        <p:spPr>
          <a:xfrm>
            <a:off x="2695074" y="5309937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2EB21B-543F-4765-A2FE-69B2A2DF16D1}"/>
              </a:ext>
            </a:extLst>
          </p:cNvPr>
          <p:cNvCxnSpPr/>
          <p:nvPr/>
        </p:nvCxnSpPr>
        <p:spPr>
          <a:xfrm>
            <a:off x="7042484" y="2614863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52F23B0-E9D8-46D6-A623-29D4997BD6B4}"/>
              </a:ext>
            </a:extLst>
          </p:cNvPr>
          <p:cNvCxnSpPr/>
          <p:nvPr/>
        </p:nvCxnSpPr>
        <p:spPr>
          <a:xfrm>
            <a:off x="6224337" y="3429000"/>
            <a:ext cx="14117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81FDE0E-93B7-401E-BFE2-B50036C485DE}"/>
              </a:ext>
            </a:extLst>
          </p:cNvPr>
          <p:cNvCxnSpPr/>
          <p:nvPr/>
        </p:nvCxnSpPr>
        <p:spPr>
          <a:xfrm>
            <a:off x="6096000" y="4395537"/>
            <a:ext cx="15560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9A7820-1C37-4AB3-9C69-D626D4A56831}"/>
              </a:ext>
            </a:extLst>
          </p:cNvPr>
          <p:cNvCxnSpPr/>
          <p:nvPr/>
        </p:nvCxnSpPr>
        <p:spPr>
          <a:xfrm>
            <a:off x="6705600" y="5309937"/>
            <a:ext cx="9464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429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457200"/>
            <a:ext cx="4287115" cy="1133404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Crime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9838" y="1896738"/>
            <a:ext cx="3932237" cy="2424546"/>
          </a:xfrm>
        </p:spPr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general data we need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477568D-50A8-4D9F-9ECA-94295F34A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515" y="439882"/>
            <a:ext cx="7408043" cy="580505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3B7524-A97B-4747-A0FA-B31CD6D4C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627418"/>
            <a:ext cx="7245209" cy="209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961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170" y="1017443"/>
            <a:ext cx="3932237" cy="103303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7170" y="1855642"/>
            <a:ext cx="3932237" cy="4735657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we pulled the specific crime we wanted to look at and saved the date of each reported incident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Looking ahead, we format the date so it can be mergeable with </a:t>
            </a:r>
            <a:r>
              <a:rPr lang="en-US" dirty="0" err="1"/>
              <a:t>OpenWeatherMap</a:t>
            </a:r>
            <a:r>
              <a:rPr lang="en-US" dirty="0"/>
              <a:t>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 sort by date to make it easier to look 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we value count the dates to get the number of reported incidents per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Now we set the Date to be the index and drop any duplicate sets of dates and reported incidents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Finally we have clean data for each crime for each of the last 5 years. We create all the data for five years into one. Repeat for each specific crime we want to explore.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B6D52D-EE0D-4D81-B09F-C3CD230779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288" y="169285"/>
            <a:ext cx="2426085" cy="136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457200"/>
            <a:ext cx="4239491" cy="121920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Merging Weather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0836" y="2015836"/>
            <a:ext cx="3932237" cy="4745181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9B7E5B89-8343-4B08-8923-A9B26051B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0158" y="457200"/>
            <a:ext cx="7536826" cy="6118945"/>
          </a:xfr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E5E06A-11E0-453D-A84D-D6280A213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03" y="0"/>
            <a:ext cx="3728771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E407DC-1D82-4769-88A6-2D60E1835E0B}"/>
              </a:ext>
            </a:extLst>
          </p:cNvPr>
          <p:cNvSpPr txBox="1"/>
          <p:nvPr/>
        </p:nvSpPr>
        <p:spPr>
          <a:xfrm>
            <a:off x="110837" y="2133600"/>
            <a:ext cx="393223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merge the weather file into each crime/year file on date because we can easily filter out any dates without a reported incident for that crime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count up all the </a:t>
            </a:r>
            <a:r>
              <a:rPr lang="en-US" sz="1600" dirty="0" err="1"/>
              <a:t>NaN</a:t>
            </a:r>
            <a:r>
              <a:rPr lang="en-US" sz="1600" dirty="0"/>
              <a:t> values and record it and then drop all of them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reconfigure the Year column into an integer so the years don’t read with a .0 in our visualizations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C6C27-80F3-41A2-BDB7-FCB0A6C51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3" y="457200"/>
            <a:ext cx="4765963" cy="1219200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Problems and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A5821-1548-4C46-B229-D6CB1A9E3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78182"/>
            <a:ext cx="5637211" cy="2466109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endParaRPr lang="en-US" sz="1600" i="1" dirty="0"/>
          </a:p>
          <a:p>
            <a:pPr marL="0" indent="0" algn="ctr">
              <a:buNone/>
            </a:pPr>
            <a:r>
              <a:rPr lang="en-US" sz="1600" dirty="0"/>
              <a:t>Insights</a:t>
            </a:r>
          </a:p>
          <a:p>
            <a:r>
              <a:rPr lang="en-US" sz="1600" dirty="0"/>
              <a:t>One insight we had was that there was so much data, we had a lot of visualization and comparison choices that we could choose from</a:t>
            </a:r>
          </a:p>
          <a:p>
            <a:r>
              <a:rPr lang="en-US" sz="1600" dirty="0"/>
              <a:t>Another insight we had was that when people are working on a project together, placement of some code pertaining to make things  visually appealing matters because of the overlap.</a:t>
            </a:r>
          </a:p>
          <a:p>
            <a:pPr lvl="1"/>
            <a:r>
              <a:rPr lang="en-US" sz="1400" dirty="0"/>
              <a:t>E.g. code taking out .0 from the end of the Year worked better later down the code ladder than where it originally was</a:t>
            </a:r>
          </a:p>
          <a:p>
            <a:endParaRPr lang="en-US" sz="16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E7986-FDDB-474C-B84A-BB5610955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0217" y="2078182"/>
            <a:ext cx="5237018" cy="453924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Our issues we didn’t foresee during data cleanup mostly had to do with breaking down the data enough to be able to use for visualization. In a plethora of provided data, there are still lots of bridges to be built inbetween them to get seemingly easy information.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 of the easier examples of this getting the combined number of reported incidents for a specified crime per 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example is breaking down the Date into Month, Day and Year so grouping and visualization wasn’t limited to one specific variable (YYYY/MM/DD)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05BD5-BC57-4B0A-8D15-5EF62FDC9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8547"/>
            <a:ext cx="5637212" cy="2078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973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93471A-CE75-C840-9FBD-AD80FA901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597315"/>
          </a:xfrm>
          <a:noFill/>
          <a:ln w="19050">
            <a:solidFill>
              <a:schemeClr val="bg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en-US" sz="2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The Data: Analysis Process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50AB1-569F-934C-8635-E7A4B21E4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8" y="2638044"/>
            <a:ext cx="3363974" cy="341562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sz="200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bg1"/>
                </a:solidFill>
              </a:rPr>
              <a:t>Let us first look at trend in temperature in the past 5 years. 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bg1"/>
                </a:solidFill>
              </a:rPr>
              <a:t>The incomplete line is due to insufficient data that wasn’t recorded from August 2014 to June 2015</a:t>
            </a:r>
          </a:p>
        </p:txBody>
      </p:sp>
      <p:pic>
        <p:nvPicPr>
          <p:cNvPr id="6" name="Content Placeholder 5" descr="A close up of a map&#10;&#10;Description automatically generated">
            <a:extLst>
              <a:ext uri="{FF2B5EF4-FFF2-40B4-BE49-F238E27FC236}">
                <a16:creationId xmlns:a16="http://schemas.microsoft.com/office/drawing/2014/main" id="{62DE73B5-3C17-9041-8C7D-9D0730F1C4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7763" y="1262372"/>
            <a:ext cx="6250769" cy="417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49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0618178-4B5C-46A4-9E68-052C31FA6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708357" y="3509963"/>
            <a:ext cx="7092215" cy="2967839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487C24-1972-E540-AD2A-ECCBF3D5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1821" y="3812954"/>
            <a:ext cx="6465287" cy="15160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Now let’s take a look at the Trend in 4 Categories of Violent Crimes in the past 5 years</a:t>
            </a:r>
          </a:p>
        </p:txBody>
      </p:sp>
      <p:pic>
        <p:nvPicPr>
          <p:cNvPr id="12" name="Picture 11" descr="A close up of a map&#10;&#10;Description automatically generated">
            <a:extLst>
              <a:ext uri="{FF2B5EF4-FFF2-40B4-BE49-F238E27FC236}">
                <a16:creationId xmlns:a16="http://schemas.microsoft.com/office/drawing/2014/main" id="{B90A2A23-5A7E-034C-9E0E-F30BE7AB24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6" r="9427" b="-1"/>
          <a:stretch/>
        </p:blipFill>
        <p:spPr>
          <a:xfrm>
            <a:off x="641434" y="321733"/>
            <a:ext cx="3512853" cy="2966630"/>
          </a:xfrm>
          <a:prstGeom prst="rect">
            <a:avLst/>
          </a:prstGeom>
        </p:spPr>
      </p:pic>
      <p:pic>
        <p:nvPicPr>
          <p:cNvPr id="10" name="Picture 9" descr="A close up of a map&#10;&#10;Description automatically generated">
            <a:extLst>
              <a:ext uri="{FF2B5EF4-FFF2-40B4-BE49-F238E27FC236}">
                <a16:creationId xmlns:a16="http://schemas.microsoft.com/office/drawing/2014/main" id="{E3013887-FCEE-1B47-97C7-7B010DAB9A3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3" r="10042" b="4"/>
          <a:stretch/>
        </p:blipFill>
        <p:spPr>
          <a:xfrm>
            <a:off x="4638789" y="613847"/>
            <a:ext cx="2775313" cy="2340843"/>
          </a:xfrm>
          <a:prstGeom prst="rect">
            <a:avLst/>
          </a:prstGeom>
        </p:spPr>
      </p:pic>
      <p:pic>
        <p:nvPicPr>
          <p:cNvPr id="6" name="Content Placeholder 5" descr="A close up of a map&#10;&#10;Description automatically generated">
            <a:extLst>
              <a:ext uri="{FF2B5EF4-FFF2-40B4-BE49-F238E27FC236}">
                <a16:creationId xmlns:a16="http://schemas.microsoft.com/office/drawing/2014/main" id="{B3AFF2DE-74F3-134B-B443-9F66CFCAD5C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17" r="3583" b="-1"/>
          <a:stretch/>
        </p:blipFill>
        <p:spPr>
          <a:xfrm>
            <a:off x="7666091" y="299363"/>
            <a:ext cx="4126115" cy="3008188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36FD40B-09C1-46D7-9E32-CC9BD7629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38287" y="5443086"/>
            <a:ext cx="640080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Content Placeholder 7" descr="A close up of a map&#10;&#10;Description automatically generated">
            <a:extLst>
              <a:ext uri="{FF2B5EF4-FFF2-40B4-BE49-F238E27FC236}">
                <a16:creationId xmlns:a16="http://schemas.microsoft.com/office/drawing/2014/main" id="{E9C18C6C-C551-4048-8E1E-706174493C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1" r="5475" b="-4"/>
          <a:stretch/>
        </p:blipFill>
        <p:spPr>
          <a:xfrm>
            <a:off x="317635" y="3509433"/>
            <a:ext cx="4160452" cy="302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08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708357" y="3509963"/>
            <a:ext cx="7092215" cy="2967839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48E08-59D4-254D-AB8C-721B57F82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1821" y="3812954"/>
            <a:ext cx="6465287" cy="15160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Does a hot summer mean more crime? </a:t>
            </a:r>
            <a:b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Here's what the data shows: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4C3B98-FC5F-6541-8DB6-FD4645C56E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" r="3941" b="1"/>
          <a:stretch/>
        </p:blipFill>
        <p:spPr>
          <a:xfrm>
            <a:off x="317635" y="321733"/>
            <a:ext cx="4151681" cy="3026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3EA373-6999-7340-AE4E-FF7B33ED253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4" r="4833" b="2"/>
          <a:stretch/>
        </p:blipFill>
        <p:spPr>
          <a:xfrm>
            <a:off x="4638955" y="321733"/>
            <a:ext cx="3539976" cy="29858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0774BC-F85D-2F48-8755-66DE8B41944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9" b="2"/>
          <a:stretch/>
        </p:blipFill>
        <p:spPr>
          <a:xfrm>
            <a:off x="8348570" y="321734"/>
            <a:ext cx="3535590" cy="2985818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38287" y="5443086"/>
            <a:ext cx="640080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5BEBFBA0-D56F-B947-9923-E7CC05B024F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31" r="-5" b="2822"/>
          <a:stretch/>
        </p:blipFill>
        <p:spPr>
          <a:xfrm>
            <a:off x="317635" y="3509433"/>
            <a:ext cx="4160452" cy="302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3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C25A0-0C14-4445-BD5B-6CDFB4E3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00" y="978102"/>
            <a:ext cx="10588434" cy="106264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400" dirty="0"/>
              <a:t>Statistical Analysis: Pearson Correlation Coefficient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9B7FDC9-F0CE-43A7-9F2A-83DD09DC3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7624" y="2265037"/>
            <a:ext cx="10125012" cy="0"/>
          </a:xfrm>
          <a:prstGeom prst="line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orrelation">
            <a:extLst>
              <a:ext uri="{FF2B5EF4-FFF2-40B4-BE49-F238E27FC236}">
                <a16:creationId xmlns:a16="http://schemas.microsoft.com/office/drawing/2014/main" id="{929CC62D-025D-4821-B5A3-976EC7E6F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14023" y="3483454"/>
            <a:ext cx="3366480" cy="1355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646AD-70CA-4FC9-A261-F9883EF7E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55354" y="3354785"/>
            <a:ext cx="6282169" cy="321574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b="1" dirty="0"/>
              <a:t>correlation coefficient</a:t>
            </a:r>
            <a:r>
              <a:rPr lang="en-US" sz="2400" dirty="0"/>
              <a:t> is a measure of the strength of the linear relationship between two variables.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positive linear relationship, r = 1.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negative linear relationship, r = -1.</a:t>
            </a:r>
          </a:p>
        </p:txBody>
      </p:sp>
    </p:spTree>
    <p:extLst>
      <p:ext uri="{BB962C8B-B14F-4D97-AF65-F5344CB8AC3E}">
        <p14:creationId xmlns:p14="http://schemas.microsoft.com/office/powerpoint/2010/main" val="921853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B8E2D4-05F5-442D-A308-9BFFCA66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&amp; Crime: Pearson Correlation</a:t>
            </a:r>
          </a:p>
        </p:txBody>
      </p:sp>
      <p:pic>
        <p:nvPicPr>
          <p:cNvPr id="10" name="Content Placeholder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28EBD97C-D6EE-4D1A-B609-010BAF7B0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1691" y="4010827"/>
            <a:ext cx="3950208" cy="250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21FD03E5-5087-4D94-A9CB-5C6613863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280" y="1396339"/>
            <a:ext cx="3948717" cy="2546010"/>
          </a:xfrm>
          <a:prstGeom prst="rect">
            <a:avLst/>
          </a:prstGeom>
        </p:spPr>
      </p:pic>
      <p:pic>
        <p:nvPicPr>
          <p:cNvPr id="14" name="Picture 1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BD472A3-F767-4955-BDD6-D03F31412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79" y="3989500"/>
            <a:ext cx="3950208" cy="2546972"/>
          </a:xfrm>
          <a:prstGeom prst="rect">
            <a:avLst/>
          </a:prstGeom>
        </p:spPr>
      </p:pic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2AD58-15EF-4F34-A700-692BED185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3" y="1396339"/>
            <a:ext cx="3950208" cy="25469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FAF19C5-B19C-4514-BBCA-BAD50C3E0AE5}"/>
              </a:ext>
            </a:extLst>
          </p:cNvPr>
          <p:cNvSpPr/>
          <p:nvPr/>
        </p:nvSpPr>
        <p:spPr>
          <a:xfrm>
            <a:off x="1491916" y="5678905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44601-02DC-4946-AF23-89180C0AD10D}"/>
              </a:ext>
            </a:extLst>
          </p:cNvPr>
          <p:cNvSpPr/>
          <p:nvPr/>
        </p:nvSpPr>
        <p:spPr>
          <a:xfrm>
            <a:off x="3360821" y="4135530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6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19B7-68FD-0E4C-A29C-AD7437514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dirty="0"/>
              <a:t>Discuss the implications of your findings. This is where you get to have an open-ended discussion about what your findings "mean".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B9234-FC84-3048-916A-ED4CFEA49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sz="3200" dirty="0"/>
              <a:t>If I had two more weeks…</a:t>
            </a:r>
          </a:p>
          <a:p>
            <a:pPr algn="ctr"/>
            <a:endParaRPr lang="en-US" dirty="0"/>
          </a:p>
          <a:p>
            <a:pPr marL="285750" indent="-285750"/>
            <a:r>
              <a:rPr lang="en-US" dirty="0"/>
              <a:t>I think if I could research how to manipulate file and variable names, I could probably loop datamining CPD crime based on the year of the csv file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8184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761</Words>
  <Application>Microsoft Office PowerPoint</Application>
  <PresentationFormat>Widescreen</PresentationFormat>
  <Paragraphs>94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On Weather and its Effects on Chicago Crime</vt:lpstr>
      <vt:lpstr>PowerPoint Presentation</vt:lpstr>
      <vt:lpstr>The Data: Sources</vt:lpstr>
      <vt:lpstr>The Data: Weather Exploration</vt:lpstr>
      <vt:lpstr>The Data: Weather Cleanup</vt:lpstr>
      <vt:lpstr>The Data:  Crime Exploration</vt:lpstr>
      <vt:lpstr>The Data:   Crime Cleanup</vt:lpstr>
      <vt:lpstr>The Data:   Merging Weather</vt:lpstr>
      <vt:lpstr>The Data:  Problems and Insights</vt:lpstr>
      <vt:lpstr>The Data: Analysis Process</vt:lpstr>
      <vt:lpstr>Now let’s take a look at the Trend in 4 Categories of Violent Crimes in the past 5 years</vt:lpstr>
      <vt:lpstr>Does a hot summer mean more crime?  Here's what the data shows: </vt:lpstr>
      <vt:lpstr>Statistical Analysis: Pearson Correlation Coefficient</vt:lpstr>
      <vt:lpstr>Weather &amp; Crime: Pearson Correlation</vt:lpstr>
      <vt:lpstr>Discuss the implications of your findings. This is where you get to have an open-ended discussion about what your findings "mean".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Effects on Chicago Crime</dc:title>
  <dc:creator>Francisco Hohn</dc:creator>
  <cp:lastModifiedBy>Francisco Hohn</cp:lastModifiedBy>
  <cp:revision>3</cp:revision>
  <dcterms:created xsi:type="dcterms:W3CDTF">2019-04-08T21:57:47Z</dcterms:created>
  <dcterms:modified xsi:type="dcterms:W3CDTF">2019-04-08T23:06:54Z</dcterms:modified>
</cp:coreProperties>
</file>